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8551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97135" y="164592"/>
            <a:ext cx="19659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pic>
        <p:nvPicPr>
          <p:cNvPr id="3" name="Image 0" descr="assets/logo_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0287" y="274320"/>
            <a:ext cx="1819656" cy="7132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2004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6012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PAGE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78308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ID – [SIH0015]</a:t>
            </a:r>
            <a:endParaRPr lang="en-US" sz="15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Title – AI-Based Real-Time Elderly Fall Detection &amp; Emergency Alert System</a:t>
            </a:r>
            <a:endParaRPr lang="en-US" sz="15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– [OPEN INNOVATION]</a:t>
            </a:r>
            <a:endParaRPr lang="en-US" sz="15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Category – Software</a:t>
            </a:r>
            <a:endParaRPr lang="en-US" sz="15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 – []</a:t>
            </a:r>
            <a:endParaRPr lang="en-US" sz="15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 – The Prometheus</a:t>
            </a:r>
            <a:endParaRPr lang="en-US" sz="1500" dirty="0"/>
          </a:p>
        </p:txBody>
      </p:sp>
      <p:pic>
        <p:nvPicPr>
          <p:cNvPr id="7" name="Image 1" descr="assets/logo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1920240"/>
            <a:ext cx="329184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97135" y="164592"/>
            <a:ext cx="19659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pic>
        <p:nvPicPr>
          <p:cNvPr id="3" name="Image 0" descr="assets/logo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287" y="274320"/>
            <a:ext cx="1819656" cy="7132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74320" y="182880"/>
            <a:ext cx="137160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4A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274320" y="1828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Prometheus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56032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143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u="sng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Elderly Fall Detection Needs a New Approach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74320" y="64465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1277295" y="64465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Box 11"/>
          <p:cNvSpPr txBox="1"/>
          <p:nvPr/>
        </p:nvSpPr>
        <p:spPr>
          <a:xfrm>
            <a:off x="548640" y="1620000"/>
            <a:ext cx="11094415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000000"/>
                </a:solidFill>
                <a:latin typeface="Arial"/>
              </a:rPr>
              <a:t>Elderly people living alone, in assisted living, or on hospital wards face life-threatening delays when a fall or medical emergency goes unnoticed. Every minute without help raises the risk of serious complications — yet every existing safety approach leaves a critical gap.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00000"/>
            <a:ext cx="3350000" cy="3800000"/>
          </a:xfrm>
          <a:prstGeom prst="roundRect">
            <a:avLst>
              <a:gd name="adj" fmla="val 6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8640" y="2850000"/>
            <a:ext cx="3050000" cy="9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"/>
              </a:rPr>
              <a:t>684,000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8640" y="3800000"/>
            <a:ext cx="2950000" cy="1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Arial"/>
              </a:rPr>
              <a:t>deaths per year worldwide from falls</a:t>
            </a:r>
          </a:p>
          <a:p>
            <a:pPr algn="ctr">
              <a:spcBef>
                <a:spcPts val="1000"/>
              </a:spcBef>
            </a:pPr>
            <a:r>
              <a:rPr sz="1100" b="0" i="1">
                <a:solidFill>
                  <a:srgbClr val="DCE6F1"/>
                </a:solidFill>
                <a:latin typeface="Arial"/>
              </a:rPr>
              <a:t>2nd leading cause of unintentional injury death — many go undiscovered for critical minutes</a:t>
            </a:r>
          </a:p>
          <a:p>
            <a:pPr algn="ctr">
              <a:spcBef>
                <a:spcPts val="1400"/>
              </a:spcBef>
            </a:pPr>
            <a:r>
              <a:rPr sz="1050" b="0" i="1">
                <a:solidFill>
                  <a:srgbClr val="DCE6F1"/>
                </a:solidFill>
                <a:latin typeface="Arial"/>
              </a:rPr>
              <a:t>— World Health Organization (WHO)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72960" y="2160000"/>
            <a:ext cx="7470095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  <a:latin typeface="Arial"/>
              </a:rPr>
              <a:t>Why current safety systems fall short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72960" y="2500000"/>
            <a:ext cx="7470095" cy="1160000"/>
          </a:xfrm>
          <a:prstGeom prst="roundRect">
            <a:avLst>
              <a:gd name="adj" fmla="val 12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342960" y="2870000"/>
            <a:ext cx="420000" cy="420000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42960" y="2870000"/>
            <a:ext cx="420000" cy="4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2960" y="2590000"/>
            <a:ext cx="6560095" cy="9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1F497D"/>
                </a:solidFill>
                <a:latin typeface="Arial"/>
              </a:rPr>
              <a:t>Wearables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303030"/>
                </a:solidFill>
                <a:latin typeface="Arial"/>
              </a:rPr>
              <a:t>Need a manual button press — impossible to make mid-fall or if the person is unconscious.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72960" y="3820000"/>
            <a:ext cx="7470095" cy="1160000"/>
          </a:xfrm>
          <a:prstGeom prst="roundRect">
            <a:avLst>
              <a:gd name="adj" fmla="val 12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342960" y="4190000"/>
            <a:ext cx="420000" cy="420000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42960" y="4190000"/>
            <a:ext cx="420000" cy="4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12960" y="3910000"/>
            <a:ext cx="6560095" cy="9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1F497D"/>
                </a:solidFill>
                <a:latin typeface="Arial"/>
              </a:rPr>
              <a:t>Traditional CCTV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303030"/>
                </a:solidFill>
                <a:latin typeface="Arial"/>
              </a:rPr>
              <a:t>Only records footage; it never understands or flags an emergency in real time.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72960" y="5140000"/>
            <a:ext cx="7470095" cy="1160000"/>
          </a:xfrm>
          <a:prstGeom prst="roundRect">
            <a:avLst>
              <a:gd name="adj" fmla="val 12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342960" y="5510000"/>
            <a:ext cx="420000" cy="420000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42960" y="5510000"/>
            <a:ext cx="420000" cy="4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12960" y="5230000"/>
            <a:ext cx="6560095" cy="9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1F497D"/>
                </a:solidFill>
                <a:latin typeface="Arial"/>
              </a:rPr>
              <a:t>Generic AI Systems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303030"/>
                </a:solidFill>
                <a:latin typeface="Arial"/>
              </a:rPr>
              <a:t>Single-frame analysis triggers frequent false alarms, eroding caregiver trust.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97135" y="164592"/>
            <a:ext cx="19659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pic>
        <p:nvPicPr>
          <p:cNvPr id="3" name="Image 0" descr="assets/logo_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0287" y="274320"/>
            <a:ext cx="1819656" cy="7132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74320" y="182880"/>
            <a:ext cx="137160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4A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274320" y="1828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Prometheus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56032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SANJEEVANI AI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143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u="sng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 (Idea / Solution / Prototype)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620000"/>
            <a:ext cx="6600000" cy="4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SzPct val="100000"/>
              <a:buNone/>
            </a:pPr>
            <a:r>
              <a:rPr sz="1400" b="1" i="0">
                <a:solidFill>
                  <a:srgbClr val="1F497D"/>
                </a:solidFill>
                <a:latin typeface="Arial"/>
              </a:rPr>
              <a:t>Detailed explanation: </a:t>
            </a:r>
            <a:r>
              <a:rPr sz="1400" b="0" i="0">
                <a:solidFill>
                  <a:srgbClr val="000000"/>
                </a:solidFill>
                <a:latin typeface="Arial"/>
              </a:rPr>
              <a:t>Sanjeevani AI is a real-time, non-contact elderly monitoring system built purely on computer vision. A live camera feed passes through human detection, pose estimation and feature extraction to a risk engine that continuously analyzes body angle, angular velocity and inactivity duration — detecting falls, abnormal posture and prolonged stillness without any wearable device.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sz="1400" b="1" i="0">
                <a:solidFill>
                  <a:srgbClr val="1F497D"/>
                </a:solidFill>
                <a:latin typeface="Arial"/>
              </a:rPr>
              <a:t>How it closes the gap: </a:t>
            </a:r>
            <a:r>
              <a:rPr sz="1400" b="0" i="0">
                <a:solidFill>
                  <a:srgbClr val="000000"/>
                </a:solidFill>
                <a:latin typeface="Arial"/>
              </a:rPr>
              <a:t>Sanjeevani AI is non-contact, understands emergencies as they happen, alerts in real time, and keeps working even if the person is unconscious — solving every weakness of wearables, CCTV and generic AI at once.</a:t>
            </a:r>
          </a:p>
          <a:p>
            <a:pPr marL="0" indent="0">
              <a:spcAft>
                <a:spcPts val="1400"/>
              </a:spcAft>
              <a:buNone/>
            </a:pPr>
            <a:r>
              <a:rPr sz="1400" b="1" i="0">
                <a:solidFill>
                  <a:srgbClr val="1F497D"/>
                </a:solidFill>
                <a:latin typeface="Arial"/>
              </a:rPr>
              <a:t>Innovation and uniqueness: </a:t>
            </a:r>
            <a:r>
              <a:rPr sz="1400" b="0" i="0">
                <a:solidFill>
                  <a:srgbClr val="000000"/>
                </a:solidFill>
                <a:latin typeface="Arial"/>
              </a:rPr>
              <a:t>Temporal AI reasoning across frames (not single frames) fuses the four independent triggers shown alongside to cut false alarms — followed by automatic emergency recording and instant call/SMS alerts to caregivers.</a:t>
            </a:r>
          </a:p>
        </p:txBody>
      </p:sp>
      <p:sp>
        <p:nvSpPr>
          <p:cNvPr id="9" name="Shap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74320" y="64465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1277295" y="64465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Box 11"/>
          <p:cNvSpPr txBox="1"/>
          <p:nvPr/>
        </p:nvSpPr>
        <p:spPr>
          <a:xfrm>
            <a:off x="7377240" y="1620000"/>
            <a:ext cx="4265815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497D"/>
                </a:solidFill>
                <a:latin typeface="Arial"/>
              </a:rPr>
              <a:t>Four Independent Triggers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77240" y="2000000"/>
            <a:ext cx="4265815" cy="900000"/>
          </a:xfrm>
          <a:prstGeom prst="roundRect">
            <a:avLst>
              <a:gd name="adj" fmla="val 8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537240" y="2170000"/>
            <a:ext cx="560000" cy="560000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37240" y="2170000"/>
            <a:ext cx="56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240" y="2100000"/>
            <a:ext cx="3275815" cy="7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1F497D"/>
                </a:solidFill>
                <a:latin typeface="Arial"/>
              </a:rPr>
              <a:t>Fall Detection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404040"/>
                </a:solidFill>
                <a:latin typeface="Arial"/>
              </a:rPr>
              <a:t>Sudden change in body angle &amp; velocity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77240" y="3030000"/>
            <a:ext cx="4265815" cy="900000"/>
          </a:xfrm>
          <a:prstGeom prst="roundRect">
            <a:avLst>
              <a:gd name="adj" fmla="val 8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537240" y="3200000"/>
            <a:ext cx="560000" cy="560000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37240" y="3200000"/>
            <a:ext cx="56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240" y="3130000"/>
            <a:ext cx="3275815" cy="7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1F497D"/>
                </a:solidFill>
                <a:latin typeface="Arial"/>
              </a:rPr>
              <a:t>Lying-Still Danger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404040"/>
                </a:solidFill>
                <a:latin typeface="Arial"/>
              </a:rPr>
              <a:t>Flags prolonged inactivity after a fall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77240" y="4060000"/>
            <a:ext cx="4265815" cy="900000"/>
          </a:xfrm>
          <a:prstGeom prst="roundRect">
            <a:avLst>
              <a:gd name="adj" fmla="val 8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537240" y="4230000"/>
            <a:ext cx="560000" cy="560000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37240" y="4230000"/>
            <a:ext cx="56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240" y="4160000"/>
            <a:ext cx="3275815" cy="7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1F497D"/>
                </a:solidFill>
                <a:latin typeface="Arial"/>
              </a:rPr>
              <a:t>Voice Command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404040"/>
                </a:solidFill>
                <a:latin typeface="Arial"/>
              </a:rPr>
              <a:t>"Sanjeevani, need help" — hands-free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77240" y="5090000"/>
            <a:ext cx="4265815" cy="900000"/>
          </a:xfrm>
          <a:prstGeom prst="roundRect">
            <a:avLst>
              <a:gd name="adj" fmla="val 8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537240" y="5260000"/>
            <a:ext cx="560000" cy="560000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37240" y="5260000"/>
            <a:ext cx="56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240" y="5190000"/>
            <a:ext cx="3275815" cy="7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1F497D"/>
                </a:solidFill>
                <a:latin typeface="Arial"/>
              </a:rPr>
              <a:t>Hand Gesture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404040"/>
                </a:solidFill>
                <a:latin typeface="Arial"/>
              </a:rPr>
              <a:t>Manual gesture trigger for silent alerts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97135" y="164592"/>
            <a:ext cx="19659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pic>
        <p:nvPicPr>
          <p:cNvPr id="3" name="Image 0" descr="assets/logo_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0287" y="274320"/>
            <a:ext cx="1819656" cy="7132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74320" y="182880"/>
            <a:ext cx="137160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4A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274320" y="1828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Prometheus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56032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to be used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035040" y="1234440"/>
            <a:ext cx="5608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/ Process for Implementation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035040" y="1691640"/>
            <a:ext cx="5608015" cy="566928"/>
          </a:xfrm>
          <a:prstGeom prst="roundRect">
            <a:avLst>
              <a:gd name="adj" fmla="val 12903"/>
            </a:avLst>
          </a:prstGeom>
          <a:solidFill>
            <a:srgbClr val="DCE6F1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715040" y="1691640"/>
            <a:ext cx="4778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Camera Feed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035040" y="2386584"/>
            <a:ext cx="5608015" cy="566928"/>
          </a:xfrm>
          <a:prstGeom prst="roundRect">
            <a:avLst>
              <a:gd name="adj" fmla="val 12903"/>
            </a:avLst>
          </a:prstGeom>
          <a:solidFill>
            <a:srgbClr val="DCE6F1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715040" y="2386584"/>
            <a:ext cx="4778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Detection (YOLOv8)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035040" y="3081528"/>
            <a:ext cx="5608015" cy="566928"/>
          </a:xfrm>
          <a:prstGeom prst="roundRect">
            <a:avLst>
              <a:gd name="adj" fmla="val 12903"/>
            </a:avLst>
          </a:prstGeom>
          <a:solidFill>
            <a:srgbClr val="DCE6F1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715040" y="3081528"/>
            <a:ext cx="4778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 Estimation (MediaPipe)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035040" y="3776472"/>
            <a:ext cx="5608015" cy="566928"/>
          </a:xfrm>
          <a:prstGeom prst="roundRect">
            <a:avLst>
              <a:gd name="adj" fmla="val 12903"/>
            </a:avLst>
          </a:prstGeom>
          <a:solidFill>
            <a:srgbClr val="DCE6F1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715040" y="3776472"/>
            <a:ext cx="4778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Extraction (angle, velocity, inactivity)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035040" y="4471416"/>
            <a:ext cx="5608015" cy="566928"/>
          </a:xfrm>
          <a:prstGeom prst="roundRect">
            <a:avLst>
              <a:gd name="adj" fmla="val 12903"/>
            </a:avLst>
          </a:prstGeom>
          <a:solidFill>
            <a:srgbClr val="DCE6F1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715040" y="4471416"/>
            <a:ext cx="4778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Engine — Fall / Danger Analysis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035040" y="5166360"/>
            <a:ext cx="5608015" cy="566928"/>
          </a:xfrm>
          <a:prstGeom prst="roundRect">
            <a:avLst>
              <a:gd name="adj" fmla="val 12903"/>
            </a:avLst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715040" y="5166360"/>
            <a:ext cx="4778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Alert (Call / SMS / Dashboard)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274320" y="64465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11277295" y="64465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Oval 29"/>
          <p:cNvSpPr/>
          <p:nvPr/>
        </p:nvSpPr>
        <p:spPr>
          <a:xfrm>
            <a:off x="685800" y="1765920"/>
            <a:ext cx="460000" cy="460000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" y="1765920"/>
            <a:ext cx="460000" cy="4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5800" y="1645920"/>
            <a:ext cx="4520640" cy="7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1F497D"/>
                </a:solidFill>
                <a:latin typeface="Arial"/>
              </a:rPr>
              <a:t>YOLOv8</a:t>
            </a:r>
          </a:p>
          <a:p>
            <a:pPr>
              <a:spcBef>
                <a:spcPts val="100"/>
              </a:spcBef>
            </a:pPr>
            <a:r>
              <a:rPr sz="1050" b="0" i="0">
                <a:solidFill>
                  <a:srgbClr val="404040"/>
                </a:solidFill>
                <a:latin typeface="Arial"/>
              </a:rPr>
              <a:t>Ultra-fast, real-time human detection &amp; tracking in every frame</a:t>
            </a:r>
          </a:p>
        </p:txBody>
      </p:sp>
      <p:sp>
        <p:nvSpPr>
          <p:cNvPr id="33" name="Oval 32"/>
          <p:cNvSpPr/>
          <p:nvPr/>
        </p:nvSpPr>
        <p:spPr>
          <a:xfrm>
            <a:off x="685800" y="2556736"/>
            <a:ext cx="460000" cy="460000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5800" y="2556736"/>
            <a:ext cx="460000" cy="4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5800" y="2436736"/>
            <a:ext cx="4520640" cy="7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1F497D"/>
                </a:solidFill>
                <a:latin typeface="Arial"/>
              </a:rPr>
              <a:t>MediaPipe</a:t>
            </a:r>
          </a:p>
          <a:p>
            <a:pPr>
              <a:spcBef>
                <a:spcPts val="100"/>
              </a:spcBef>
            </a:pPr>
            <a:r>
              <a:rPr sz="1050" b="0" i="0">
                <a:solidFill>
                  <a:srgbClr val="404040"/>
                </a:solidFill>
                <a:latin typeface="Arial"/>
              </a:rPr>
              <a:t>Pose estimation — extracts precise body-joint keypoints</a:t>
            </a:r>
          </a:p>
        </p:txBody>
      </p:sp>
      <p:sp>
        <p:nvSpPr>
          <p:cNvPr id="36" name="Oval 35"/>
          <p:cNvSpPr/>
          <p:nvPr/>
        </p:nvSpPr>
        <p:spPr>
          <a:xfrm>
            <a:off x="685800" y="3347552"/>
            <a:ext cx="460000" cy="460000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85800" y="3347552"/>
            <a:ext cx="460000" cy="4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5800" y="3227552"/>
            <a:ext cx="4520640" cy="7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1F497D"/>
                </a:solidFill>
                <a:latin typeface="Arial"/>
              </a:rPr>
              <a:t>OpenCV</a:t>
            </a:r>
          </a:p>
          <a:p>
            <a:pPr>
              <a:spcBef>
                <a:spcPts val="100"/>
              </a:spcBef>
            </a:pPr>
            <a:r>
              <a:rPr sz="1050" b="0" i="0">
                <a:solidFill>
                  <a:srgbClr val="404040"/>
                </a:solidFill>
                <a:latin typeface="Arial"/>
              </a:rPr>
              <a:t>Real-time video capture, frame processing &amp; feature extraction</a:t>
            </a:r>
          </a:p>
        </p:txBody>
      </p:sp>
      <p:sp>
        <p:nvSpPr>
          <p:cNvPr id="39" name="Oval 38"/>
          <p:cNvSpPr/>
          <p:nvPr/>
        </p:nvSpPr>
        <p:spPr>
          <a:xfrm>
            <a:off x="685800" y="4138368"/>
            <a:ext cx="460000" cy="460000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5800" y="4138368"/>
            <a:ext cx="460000" cy="4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85800" y="4018368"/>
            <a:ext cx="4520640" cy="7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1F497D"/>
                </a:solidFill>
                <a:latin typeface="Arial"/>
              </a:rPr>
              <a:t>Twilio API</a:t>
            </a:r>
          </a:p>
          <a:p>
            <a:pPr>
              <a:spcBef>
                <a:spcPts val="100"/>
              </a:spcBef>
            </a:pPr>
            <a:r>
              <a:rPr sz="1050" b="0" i="0">
                <a:solidFill>
                  <a:srgbClr val="404040"/>
                </a:solidFill>
                <a:latin typeface="Arial"/>
              </a:rPr>
              <a:t>Automated emergency call / SMS alerting to caregivers</a:t>
            </a:r>
          </a:p>
        </p:txBody>
      </p:sp>
      <p:sp>
        <p:nvSpPr>
          <p:cNvPr id="42" name="Oval 41"/>
          <p:cNvSpPr/>
          <p:nvPr/>
        </p:nvSpPr>
        <p:spPr>
          <a:xfrm>
            <a:off x="685800" y="4929184"/>
            <a:ext cx="460000" cy="460000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85800" y="4929184"/>
            <a:ext cx="460000" cy="4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85800" y="4809184"/>
            <a:ext cx="4520640" cy="7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1F497D"/>
                </a:solidFill>
                <a:latin typeface="Arial"/>
              </a:rPr>
              <a:t>Speech Recognition</a:t>
            </a:r>
          </a:p>
          <a:p>
            <a:pPr>
              <a:spcBef>
                <a:spcPts val="100"/>
              </a:spcBef>
            </a:pPr>
            <a:r>
              <a:rPr sz="1050" b="0" i="0">
                <a:solidFill>
                  <a:srgbClr val="404040"/>
                </a:solidFill>
                <a:latin typeface="Arial"/>
              </a:rPr>
              <a:t>Hands-free voice-trigger detection ("Sanjeevani, need help")</a:t>
            </a:r>
          </a:p>
        </p:txBody>
      </p:sp>
      <p:sp>
        <p:nvSpPr>
          <p:cNvPr id="45" name="Oval 44"/>
          <p:cNvSpPr/>
          <p:nvPr/>
        </p:nvSpPr>
        <p:spPr>
          <a:xfrm>
            <a:off x="685800" y="5720000"/>
            <a:ext cx="460000" cy="460000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85800" y="5720000"/>
            <a:ext cx="460000" cy="4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85800" y="5600000"/>
            <a:ext cx="4520640" cy="7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1F497D"/>
                </a:solidFill>
                <a:latin typeface="Arial"/>
              </a:rPr>
              <a:t>Web Dashboard</a:t>
            </a:r>
          </a:p>
          <a:p>
            <a:pPr>
              <a:spcBef>
                <a:spcPts val="100"/>
              </a:spcBef>
            </a:pPr>
            <a:r>
              <a:rPr sz="1050" b="0" i="0">
                <a:solidFill>
                  <a:srgbClr val="404040"/>
                </a:solidFill>
                <a:latin typeface="Arial"/>
              </a:rPr>
              <a:t>Timestamped alert logs and live monitoring interface</a:t>
            </a:r>
          </a:p>
        </p:txBody>
      </p:sp>
      <p:sp>
        <p:nvSpPr>
          <p:cNvPr id="48" name="Oval 47"/>
          <p:cNvSpPr/>
          <p:nvPr/>
        </p:nvSpPr>
        <p:spPr>
          <a:xfrm>
            <a:off x="6165040" y="1775104"/>
            <a:ext cx="400000" cy="40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165040" y="1775104"/>
            <a:ext cx="4000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1F497D"/>
                </a:solidFill>
                <a:latin typeface="Arial"/>
              </a:rPr>
              <a:t>1</a:t>
            </a:r>
          </a:p>
        </p:txBody>
      </p:sp>
      <p:sp>
        <p:nvSpPr>
          <p:cNvPr id="50" name="Oval 49"/>
          <p:cNvSpPr/>
          <p:nvPr/>
        </p:nvSpPr>
        <p:spPr>
          <a:xfrm>
            <a:off x="6165040" y="2470048"/>
            <a:ext cx="400000" cy="40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165040" y="2470048"/>
            <a:ext cx="4000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1F497D"/>
                </a:solidFill>
                <a:latin typeface="Arial"/>
              </a:rPr>
              <a:t>2</a:t>
            </a:r>
          </a:p>
        </p:txBody>
      </p:sp>
      <p:sp>
        <p:nvSpPr>
          <p:cNvPr id="52" name="Oval 51"/>
          <p:cNvSpPr/>
          <p:nvPr/>
        </p:nvSpPr>
        <p:spPr>
          <a:xfrm>
            <a:off x="6165040" y="3164992"/>
            <a:ext cx="400000" cy="40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165040" y="3164992"/>
            <a:ext cx="4000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1F497D"/>
                </a:solidFill>
                <a:latin typeface="Arial"/>
              </a:rPr>
              <a:t>3</a:t>
            </a:r>
          </a:p>
        </p:txBody>
      </p:sp>
      <p:sp>
        <p:nvSpPr>
          <p:cNvPr id="54" name="Oval 53"/>
          <p:cNvSpPr/>
          <p:nvPr/>
        </p:nvSpPr>
        <p:spPr>
          <a:xfrm>
            <a:off x="6165040" y="3859936"/>
            <a:ext cx="400000" cy="40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165040" y="3859936"/>
            <a:ext cx="4000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1F497D"/>
                </a:solidFill>
                <a:latin typeface="Arial"/>
              </a:rPr>
              <a:t>4</a:t>
            </a:r>
          </a:p>
        </p:txBody>
      </p:sp>
      <p:sp>
        <p:nvSpPr>
          <p:cNvPr id="56" name="Oval 55"/>
          <p:cNvSpPr/>
          <p:nvPr/>
        </p:nvSpPr>
        <p:spPr>
          <a:xfrm>
            <a:off x="6165040" y="4554880"/>
            <a:ext cx="400000" cy="40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165040" y="4554880"/>
            <a:ext cx="4000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1F497D"/>
                </a:solidFill>
                <a:latin typeface="Arial"/>
              </a:rPr>
              <a:t>5</a:t>
            </a:r>
          </a:p>
        </p:txBody>
      </p:sp>
      <p:sp>
        <p:nvSpPr>
          <p:cNvPr id="58" name="Oval 57"/>
          <p:cNvSpPr/>
          <p:nvPr/>
        </p:nvSpPr>
        <p:spPr>
          <a:xfrm>
            <a:off x="6165040" y="5249824"/>
            <a:ext cx="400000" cy="40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165040" y="5249824"/>
            <a:ext cx="4000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1F497D"/>
                </a:solidFill>
                <a:latin typeface="Arial"/>
              </a:rPr>
              <a:t>6</a:t>
            </a:r>
          </a:p>
        </p:txBody>
      </p:sp>
      <p:sp>
        <p:nvSpPr>
          <p:cNvPr id="60" name="Down Arrow 59"/>
          <p:cNvSpPr/>
          <p:nvPr/>
        </p:nvSpPr>
        <p:spPr>
          <a:xfrm>
            <a:off x="8744048" y="2270008"/>
            <a:ext cx="190000" cy="160000"/>
          </a:xfrm>
          <a:prstGeom prst="downArrow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Down Arrow 60"/>
          <p:cNvSpPr/>
          <p:nvPr/>
        </p:nvSpPr>
        <p:spPr>
          <a:xfrm>
            <a:off x="8744048" y="2964952"/>
            <a:ext cx="190000" cy="160000"/>
          </a:xfrm>
          <a:prstGeom prst="downArrow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Down Arrow 61"/>
          <p:cNvSpPr/>
          <p:nvPr/>
        </p:nvSpPr>
        <p:spPr>
          <a:xfrm>
            <a:off x="8744048" y="3659896"/>
            <a:ext cx="190000" cy="160000"/>
          </a:xfrm>
          <a:prstGeom prst="downArrow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Down Arrow 62"/>
          <p:cNvSpPr/>
          <p:nvPr/>
        </p:nvSpPr>
        <p:spPr>
          <a:xfrm>
            <a:off x="8744048" y="4354840"/>
            <a:ext cx="190000" cy="160000"/>
          </a:xfrm>
          <a:prstGeom prst="downArrow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Down Arrow 63"/>
          <p:cNvSpPr/>
          <p:nvPr/>
        </p:nvSpPr>
        <p:spPr>
          <a:xfrm>
            <a:off x="8744048" y="5049784"/>
            <a:ext cx="190000" cy="160000"/>
          </a:xfrm>
          <a:prstGeom prst="downArrow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97135" y="164592"/>
            <a:ext cx="19659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pic>
        <p:nvPicPr>
          <p:cNvPr id="3" name="Image 0" descr="assets/logo_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0287" y="274320"/>
            <a:ext cx="1819656" cy="7132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74320" y="182880"/>
            <a:ext cx="137160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4A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274320" y="1828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Prometheus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56032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AND VIABILITY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74320" y="64465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1277295" y="64465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6" name="Rounded Rectangle 15"/>
          <p:cNvSpPr/>
          <p:nvPr/>
        </p:nvSpPr>
        <p:spPr>
          <a:xfrm>
            <a:off x="548640" y="1234440"/>
            <a:ext cx="3515258" cy="5065560"/>
          </a:xfrm>
          <a:prstGeom prst="roundRect">
            <a:avLst>
              <a:gd name="adj" fmla="val 5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77240" y="1463040"/>
            <a:ext cx="480060" cy="480060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1463040"/>
            <a:ext cx="480060" cy="4800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7300" y="1463040"/>
            <a:ext cx="2427998" cy="4800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 i="0">
                <a:solidFill>
                  <a:srgbClr val="1F497D"/>
                </a:solidFill>
                <a:latin typeface="Arial"/>
              </a:rPr>
              <a:t>Feasibility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163100"/>
            <a:ext cx="3058058" cy="390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250" b="0" i="0">
                <a:solidFill>
                  <a:srgbClr val="000000"/>
                </a:solidFill>
                <a:latin typeface="Arial"/>
              </a:rPr>
              <a:t>Built entirely on proven, open-source tools (YOLOv8, MediaPipe, OpenCV) that run in real time on a standard camera plus a laptop or edge device.</a:t>
            </a: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250" b="0" i="0">
                <a:solidFill>
                  <a:srgbClr val="000000"/>
                </a:solidFill>
                <a:latin typeface="Arial"/>
              </a:rPr>
              <a:t>No specialised or costly hardware and no wearables required.</a:t>
            </a: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250" b="0" i="0">
                <a:solidFill>
                  <a:srgbClr val="000000"/>
                </a:solidFill>
                <a:latin typeface="Arial"/>
              </a:rPr>
              <a:t>Cloud alerting (Twilio) and a lightweight dashboard make the system easy to pilot in a single home and scale to multiple rooms, wards or care facilities.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38218" y="1234440"/>
            <a:ext cx="3515258" cy="5065560"/>
          </a:xfrm>
          <a:prstGeom prst="roundRect">
            <a:avLst>
              <a:gd name="adj" fmla="val 5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566818" y="1463040"/>
            <a:ext cx="480060" cy="480060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66818" y="1463040"/>
            <a:ext cx="480060" cy="4800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96878" y="1463040"/>
            <a:ext cx="2427998" cy="4800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 i="0">
                <a:solidFill>
                  <a:srgbClr val="1F497D"/>
                </a:solidFill>
                <a:latin typeface="Arial"/>
              </a:rPr>
              <a:t>Challenges &amp; Risks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2163100"/>
            <a:ext cx="3058058" cy="390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250" b="0" i="0">
                <a:solidFill>
                  <a:srgbClr val="000000"/>
                </a:solidFill>
                <a:latin typeface="Arial"/>
              </a:rPr>
              <a:t>Detection accuracy can be affected by poor lighting, camera angle or occlusion.</a:t>
            </a: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250" b="0" i="0">
                <a:solidFill>
                  <a:srgbClr val="000000"/>
                </a:solidFill>
                <a:latin typeface="Arial"/>
              </a:rPr>
              <a:t>Visually similar postures (e.g. lying on a sofa vs. the floor) can create false positives.</a:t>
            </a: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250" b="0" i="0">
                <a:solidFill>
                  <a:srgbClr val="000000"/>
                </a:solidFill>
                <a:latin typeface="Arial"/>
              </a:rPr>
              <a:t>Continuous video monitoring raises privacy considerations for residents.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7796" y="1234440"/>
            <a:ext cx="3515258" cy="5065560"/>
          </a:xfrm>
          <a:prstGeom prst="roundRect">
            <a:avLst>
              <a:gd name="adj" fmla="val 5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356396" y="1463040"/>
            <a:ext cx="480060" cy="480060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56396" y="1463040"/>
            <a:ext cx="480060" cy="4800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86456" y="1463040"/>
            <a:ext cx="2427998" cy="4800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 i="0">
                <a:solidFill>
                  <a:srgbClr val="1F497D"/>
                </a:solidFill>
                <a:latin typeface="Arial"/>
              </a:rPr>
              <a:t>Mitigation Strategies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6396" y="2163100"/>
            <a:ext cx="3058058" cy="390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250" b="0" i="0">
                <a:solidFill>
                  <a:srgbClr val="000000"/>
                </a:solidFill>
                <a:latin typeface="Arial"/>
              </a:rPr>
              <a:t>Temporal reasoning across multiple frames (not a single frame) sharply reduces false alarms.</a:t>
            </a: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250" b="0" i="0">
                <a:solidFill>
                  <a:srgbClr val="000000"/>
                </a:solidFill>
                <a:latin typeface="Arial"/>
              </a:rPr>
              <a:t>Four independent triggers add redundancy so one weak signal doesn't miss an emergency.</a:t>
            </a: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250" b="0" i="0">
                <a:solidFill>
                  <a:srgbClr val="000000"/>
                </a:solidFill>
                <a:latin typeface="Arial"/>
              </a:rPr>
              <a:t>On-device / local processing and configurable camera placement address privacy concerns.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97135" y="164592"/>
            <a:ext cx="19659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pic>
        <p:nvPicPr>
          <p:cNvPr id="3" name="Image 0" descr="assets/logo_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0287" y="274320"/>
            <a:ext cx="1819656" cy="7132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74320" y="182880"/>
            <a:ext cx="137160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4A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274320" y="1828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Prometheus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56032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AND BENEFITS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impact on the target audience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627632"/>
            <a:ext cx="10728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Elderly people living alone, assisted-living residents and hospital/ward patients gain continuous, non-intrusive safety monitoring.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Caregivers and families receive instant, reliable alerts instead of relying on chance discovery of a fall.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74320" y="64465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1277295" y="64465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14" name="Rounded Rectangle 13"/>
          <p:cNvSpPr/>
          <p:nvPr/>
        </p:nvSpPr>
        <p:spPr>
          <a:xfrm>
            <a:off x="548640" y="2760000"/>
            <a:ext cx="3350000" cy="3540000"/>
          </a:xfrm>
          <a:prstGeom prst="roundRect">
            <a:avLst>
              <a:gd name="adj" fmla="val 6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8640" y="3110000"/>
            <a:ext cx="3050000" cy="9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"/>
              </a:rPr>
              <a:t>684,000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8640" y="4060000"/>
            <a:ext cx="2950000" cy="1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Arial"/>
              </a:rPr>
              <a:t>deaths per year worldwide from falls</a:t>
            </a:r>
          </a:p>
          <a:p>
            <a:pPr algn="ctr">
              <a:spcBef>
                <a:spcPts val="1000"/>
              </a:spcBef>
            </a:pPr>
            <a:r>
              <a:rPr sz="1100" b="0" i="1">
                <a:solidFill>
                  <a:srgbClr val="DCE6F1"/>
                </a:solidFill>
                <a:latin typeface="Arial"/>
              </a:rPr>
              <a:t>2nd leading cause of unintentional injury death</a:t>
            </a:r>
          </a:p>
          <a:p>
            <a:pPr algn="ctr">
              <a:spcBef>
                <a:spcPts val="1400"/>
              </a:spcBef>
            </a:pPr>
            <a:r>
              <a:rPr sz="1050" b="0" i="1">
                <a:solidFill>
                  <a:srgbClr val="DCE6F1"/>
                </a:solidFill>
                <a:latin typeface="Arial"/>
              </a:rPr>
              <a:t>— World Health Organization (WHO)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72960" y="2760000"/>
            <a:ext cx="3643607" cy="1678560"/>
          </a:xfrm>
          <a:prstGeom prst="roundRect">
            <a:avLst>
              <a:gd name="adj" fmla="val 8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362960" y="2950000"/>
            <a:ext cx="400000" cy="400000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62960" y="2950000"/>
            <a:ext cx="4000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960" y="2950000"/>
            <a:ext cx="2733607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50" b="1" i="0">
                <a:solidFill>
                  <a:srgbClr val="1F497D"/>
                </a:solidFill>
                <a:latin typeface="Arial"/>
              </a:rPr>
              <a:t>Social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2960" y="3440000"/>
            <a:ext cx="3263607" cy="808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303030"/>
                </a:solidFill>
                <a:latin typeface="Arial"/>
              </a:rPr>
              <a:t>Independent living with dignity for the elderly, and peace of mind for families.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99447" y="2760000"/>
            <a:ext cx="3643607" cy="1678560"/>
          </a:xfrm>
          <a:prstGeom prst="roundRect">
            <a:avLst>
              <a:gd name="adj" fmla="val 8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189447" y="2950000"/>
            <a:ext cx="400000" cy="400000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89447" y="2950000"/>
            <a:ext cx="4000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19447" y="2950000"/>
            <a:ext cx="2733607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50" b="1" i="0">
                <a:solidFill>
                  <a:srgbClr val="1F497D"/>
                </a:solidFill>
                <a:latin typeface="Arial"/>
              </a:rPr>
              <a:t>Health &amp; Safety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9447" y="3440000"/>
            <a:ext cx="3263607" cy="808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303030"/>
                </a:solidFill>
                <a:latin typeface="Arial"/>
              </a:rPr>
              <a:t>Faster response after a fall — seconds saved can prevent life-threatening complications.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72960" y="4621440"/>
            <a:ext cx="3643607" cy="1678560"/>
          </a:xfrm>
          <a:prstGeom prst="roundRect">
            <a:avLst>
              <a:gd name="adj" fmla="val 8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362960" y="4811440"/>
            <a:ext cx="400000" cy="400000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62960" y="4811440"/>
            <a:ext cx="4000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960" y="4811440"/>
            <a:ext cx="2733607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50" b="1" i="0">
                <a:solidFill>
                  <a:srgbClr val="1F497D"/>
                </a:solidFill>
                <a:latin typeface="Arial"/>
              </a:rPr>
              <a:t>Economic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62960" y="5301440"/>
            <a:ext cx="3263607" cy="808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303030"/>
                </a:solidFill>
                <a:latin typeface="Arial"/>
              </a:rPr>
              <a:t>Reduces need for constant human monitoring; one system scales across many rooms via a single dashboard.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99447" y="4621440"/>
            <a:ext cx="3643607" cy="1678560"/>
          </a:xfrm>
          <a:prstGeom prst="roundRect">
            <a:avLst>
              <a:gd name="adj" fmla="val 8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189447" y="4811440"/>
            <a:ext cx="400000" cy="400000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89447" y="4811440"/>
            <a:ext cx="4000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19447" y="4811440"/>
            <a:ext cx="2733607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50" b="1" i="0">
                <a:solidFill>
                  <a:srgbClr val="1F497D"/>
                </a:solidFill>
                <a:latin typeface="Arial"/>
              </a:rPr>
              <a:t>Operational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9447" y="5301440"/>
            <a:ext cx="3263607" cy="808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303030"/>
                </a:solidFill>
                <a:latin typeface="Arial"/>
              </a:rPr>
              <a:t>Reusable camera infrastructure with no disposable wearables; deployable across homes, hospitals and elder-welfare programs.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97135" y="164592"/>
            <a:ext cx="19659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pic>
        <p:nvPicPr>
          <p:cNvPr id="3" name="Image 0" descr="assets/logo_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0287" y="274320"/>
            <a:ext cx="1819656" cy="7132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74320" y="182880"/>
            <a:ext cx="137160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4A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274320" y="1828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Prometheus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56032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AND REFERENCES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74320" y="64465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1277295" y="64465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11" name="Rounded Rectangle 10"/>
          <p:cNvSpPr/>
          <p:nvPr/>
        </p:nvSpPr>
        <p:spPr>
          <a:xfrm>
            <a:off x="548640" y="1400000"/>
            <a:ext cx="5410047" cy="1500000"/>
          </a:xfrm>
          <a:prstGeom prst="roundRect">
            <a:avLst>
              <a:gd name="adj" fmla="val 10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38640" y="1920000"/>
            <a:ext cx="460000" cy="460000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8640" y="1920000"/>
            <a:ext cx="460000" cy="4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8640" y="1520000"/>
            <a:ext cx="4420047" cy="1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50" b="1" i="0">
                <a:solidFill>
                  <a:srgbClr val="1F497D"/>
                </a:solidFill>
                <a:latin typeface="Arial"/>
              </a:rPr>
              <a:t>World Health Organization</a:t>
            </a:r>
          </a:p>
          <a:p>
            <a:pPr>
              <a:spcBef>
                <a:spcPts val="300"/>
              </a:spcBef>
            </a:pPr>
            <a:r>
              <a:rPr sz="1050" b="0" i="0">
                <a:solidFill>
                  <a:srgbClr val="303030"/>
                </a:solidFill>
                <a:latin typeface="Arial"/>
              </a:rPr>
              <a:t>Falls Fact Sheet — global fall-related death and injury statistics.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1400000"/>
            <a:ext cx="5410047" cy="1500000"/>
          </a:xfrm>
          <a:prstGeom prst="roundRect">
            <a:avLst>
              <a:gd name="adj" fmla="val 10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423007" y="1920000"/>
            <a:ext cx="460000" cy="460000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23007" y="1920000"/>
            <a:ext cx="460000" cy="4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33007" y="1520000"/>
            <a:ext cx="4420047" cy="1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50" b="1" i="0">
                <a:solidFill>
                  <a:srgbClr val="1F497D"/>
                </a:solidFill>
                <a:latin typeface="Arial"/>
              </a:rPr>
              <a:t>UN DESA</a:t>
            </a:r>
          </a:p>
          <a:p>
            <a:pPr>
              <a:spcBef>
                <a:spcPts val="300"/>
              </a:spcBef>
            </a:pPr>
            <a:r>
              <a:rPr sz="1050" b="0" i="0">
                <a:solidFill>
                  <a:srgbClr val="303030"/>
                </a:solidFill>
                <a:latin typeface="Arial"/>
              </a:rPr>
              <a:t>World Population Ageing report — growth of the global population aged 60+.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100000"/>
            <a:ext cx="5410047" cy="1500000"/>
          </a:xfrm>
          <a:prstGeom prst="roundRect">
            <a:avLst>
              <a:gd name="adj" fmla="val 10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38640" y="3620000"/>
            <a:ext cx="460000" cy="460000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8640" y="3620000"/>
            <a:ext cx="460000" cy="4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8640" y="3220000"/>
            <a:ext cx="4420047" cy="1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50" b="1" i="0">
                <a:solidFill>
                  <a:srgbClr val="1F497D"/>
                </a:solidFill>
                <a:latin typeface="Arial"/>
              </a:rPr>
              <a:t>Ultralytics YOLOv8</a:t>
            </a:r>
          </a:p>
          <a:p>
            <a:pPr>
              <a:spcBef>
                <a:spcPts val="300"/>
              </a:spcBef>
            </a:pPr>
            <a:r>
              <a:rPr sz="1050" b="0" i="0">
                <a:solidFill>
                  <a:srgbClr val="303030"/>
                </a:solidFill>
                <a:latin typeface="Arial"/>
              </a:rPr>
              <a:t>Official documentation for real-time object/human detection.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3007" y="3100000"/>
            <a:ext cx="5410047" cy="1500000"/>
          </a:xfrm>
          <a:prstGeom prst="roundRect">
            <a:avLst>
              <a:gd name="adj" fmla="val 10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23007" y="3620000"/>
            <a:ext cx="460000" cy="460000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23007" y="3620000"/>
            <a:ext cx="460000" cy="4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33007" y="3220000"/>
            <a:ext cx="4420047" cy="1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50" b="1" i="0">
                <a:solidFill>
                  <a:srgbClr val="1F497D"/>
                </a:solidFill>
                <a:latin typeface="Arial"/>
              </a:rPr>
              <a:t>Google MediaPipe</a:t>
            </a:r>
          </a:p>
          <a:p>
            <a:pPr>
              <a:spcBef>
                <a:spcPts val="300"/>
              </a:spcBef>
            </a:pPr>
            <a:r>
              <a:rPr sz="1050" b="0" i="0">
                <a:solidFill>
                  <a:srgbClr val="303030"/>
                </a:solidFill>
                <a:latin typeface="Arial"/>
              </a:rPr>
              <a:t>Official documentation for the pose-estimation framework.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800000"/>
            <a:ext cx="5410047" cy="1500000"/>
          </a:xfrm>
          <a:prstGeom prst="roundRect">
            <a:avLst>
              <a:gd name="adj" fmla="val 10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38640" y="5320000"/>
            <a:ext cx="460000" cy="460000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8640" y="5320000"/>
            <a:ext cx="460000" cy="4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640" y="4920000"/>
            <a:ext cx="4420047" cy="1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50" b="1" i="0">
                <a:solidFill>
                  <a:srgbClr val="1F497D"/>
                </a:solidFill>
                <a:latin typeface="Arial"/>
              </a:rPr>
              <a:t>OpenCV</a:t>
            </a:r>
          </a:p>
          <a:p>
            <a:pPr>
              <a:spcBef>
                <a:spcPts val="300"/>
              </a:spcBef>
            </a:pPr>
            <a:r>
              <a:rPr sz="1050" b="0" i="0">
                <a:solidFill>
                  <a:srgbClr val="303030"/>
                </a:solidFill>
                <a:latin typeface="Arial"/>
              </a:rPr>
              <a:t>Official documentation for real-time video and image processing.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33007" y="4800000"/>
            <a:ext cx="5410047" cy="1500000"/>
          </a:xfrm>
          <a:prstGeom prst="roundRect">
            <a:avLst>
              <a:gd name="adj" fmla="val 10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423007" y="5320000"/>
            <a:ext cx="460000" cy="460000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23007" y="5320000"/>
            <a:ext cx="460000" cy="4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33007" y="4920000"/>
            <a:ext cx="4420047" cy="1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50" b="1" i="0">
                <a:solidFill>
                  <a:srgbClr val="1F497D"/>
                </a:solidFill>
                <a:latin typeface="Arial"/>
              </a:rPr>
              <a:t>Twilio</a:t>
            </a:r>
          </a:p>
          <a:p>
            <a:pPr>
              <a:spcBef>
                <a:spcPts val="300"/>
              </a:spcBef>
            </a:pPr>
            <a:r>
              <a:rPr sz="1050" b="0" i="0">
                <a:solidFill>
                  <a:srgbClr val="303030"/>
                </a:solidFill>
                <a:latin typeface="Arial"/>
              </a:rPr>
              <a:t>Official API documentation for programmable voice calls and SMS alerting.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950</Words>
  <Application>Microsoft Office PowerPoint</Application>
  <PresentationFormat>Widescreen</PresentationFormat>
  <Paragraphs>155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Raj Pratap Singh Sengar</dc:creator>
  <cp:lastModifiedBy>SURUCHI SENGAR</cp:lastModifiedBy>
  <cp:revision>2</cp:revision>
  <dcterms:created xsi:type="dcterms:W3CDTF">2026-08-27T06:37:37Z</dcterms:created>
  <dcterms:modified xsi:type="dcterms:W3CDTF">2026-08-29T13:10:35Z</dcterms:modified>
</cp:coreProperties>
</file>